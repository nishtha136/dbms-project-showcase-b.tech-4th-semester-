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Urbanist Light"/>
      <p:regular r:id="rId17"/>
      <p:bold r:id="rId18"/>
      <p:italic r:id="rId19"/>
      <p:boldItalic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 Medium"/>
      <p:regular r:id="rId25"/>
      <p:bold r:id="rId26"/>
      <p:italic r:id="rId27"/>
      <p:boldItalic r:id="rId28"/>
    </p:embeddedFont>
    <p:embeddedFont>
      <p:font typeface="Urbanist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CC275E-0EF4-4218-848C-655A98B655F4}">
  <a:tblStyle styleId="{5ECC275E-0EF4-4218-848C-655A98B655F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Light-boldItalic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rbanistLight-regular.fntdata"/><Relationship Id="rId16" Type="http://schemas.openxmlformats.org/officeDocument/2006/relationships/slide" Target="slides/slide10.xml"/><Relationship Id="rId19" Type="http://schemas.openxmlformats.org/officeDocument/2006/relationships/font" Target="fonts/UrbanistLight-italic.fntdata"/><Relationship Id="rId18" Type="http://schemas.openxmlformats.org/officeDocument/2006/relationships/font" Target="fonts/Urbanist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762000" y="952500"/>
            <a:ext cx="10668000" cy="2667000"/>
            <a:chOff x="762000" y="952500"/>
            <a:chExt cx="10668000" cy="2667000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762000" y="952500"/>
              <a:ext cx="1066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StudyLab</a:t>
              </a:r>
              <a:endParaRPr b="1" sz="5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DEFF9A"/>
                  </a:solidFill>
                  <a:latin typeface="Urbanist Light"/>
                  <a:ea typeface="Urbanist Light"/>
                  <a:cs typeface="Urbanist Light"/>
                  <a:sym typeface="Urbanist Light"/>
                </a:rPr>
                <a:t>Advanced Academic Analytics</a:t>
              </a:r>
              <a:endParaRPr b="0" sz="2400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762000" y="2571750"/>
              <a:ext cx="762000" cy="38100"/>
            </a:xfrm>
            <a:prstGeom prst="rect">
              <a:avLst/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762000" y="285750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8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"Bridging the gap between student self-study and mentor oversight."</a:t>
              </a:r>
              <a:endParaRPr b="0" i="1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762000" y="4000500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Core Team</a:t>
            </a:r>
            <a:endParaRPr b="1" sz="14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Aakriti Rana (240354) &amp; Arnav Gupta (240399)</a:t>
            </a:r>
            <a:endParaRPr b="0" sz="14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Abhijeet Gupta (240360) &amp; Aaryaman Pratap Singh (240356)</a:t>
            </a:r>
            <a:endParaRPr b="0" sz="14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762000" y="5524500"/>
            <a:ext cx="7620000" cy="762000"/>
            <a:chOff x="762000" y="5524500"/>
            <a:chExt cx="7620000" cy="762000"/>
          </a:xfrm>
        </p:grpSpPr>
        <p:sp>
          <p:nvSpPr>
            <p:cNvPr id="91" name="Google Shape;91;p13"/>
            <p:cNvSpPr txBox="1"/>
            <p:nvPr/>
          </p:nvSpPr>
          <p:spPr>
            <a:xfrm>
              <a:off x="762000" y="55245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125"/>
                </a:spcAft>
                <a:buNone/>
              </a:pPr>
              <a:r>
                <a:rPr b="1" lang="en-US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Technology Stack</a:t>
              </a:r>
              <a:endParaRPr b="1" sz="1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762000" y="5905500"/>
              <a:ext cx="952500" cy="381000"/>
            </a:xfrm>
            <a:prstGeom prst="roundRect">
              <a:avLst>
                <a:gd fmla="val 50000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857250" y="5953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Android</a:t>
              </a:r>
              <a:endParaRPr b="0" sz="11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1809750" y="5905500"/>
              <a:ext cx="952500" cy="381000"/>
            </a:xfrm>
            <a:prstGeom prst="roundRect">
              <a:avLst>
                <a:gd fmla="val 50000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1905000" y="5953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Next.js</a:t>
              </a:r>
              <a:endParaRPr b="0" sz="11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2857500" y="5905500"/>
              <a:ext cx="952500" cy="381000"/>
            </a:xfrm>
            <a:prstGeom prst="roundRect">
              <a:avLst>
                <a:gd fmla="val 50000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2952750" y="5953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FastAPI</a:t>
              </a:r>
              <a:endParaRPr b="0" sz="11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905250" y="5905500"/>
              <a:ext cx="952500" cy="381000"/>
            </a:xfrm>
            <a:prstGeom prst="roundRect">
              <a:avLst>
                <a:gd fmla="val 50000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4000500" y="5953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MySQL</a:t>
              </a:r>
              <a:endParaRPr b="0" sz="11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4953000" y="5905500"/>
              <a:ext cx="952500" cy="381000"/>
            </a:xfrm>
            <a:prstGeom prst="roundRect">
              <a:avLst>
                <a:gd fmla="val 50000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5048250" y="5953125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Redis</a:t>
              </a:r>
              <a:endParaRPr b="0" sz="11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</p:grpSp>
      <p:grpSp>
        <p:nvGrpSpPr>
          <p:cNvPr id="102" name="Google Shape;102;p13"/>
          <p:cNvGrpSpPr/>
          <p:nvPr/>
        </p:nvGrpSpPr>
        <p:grpSpPr>
          <a:xfrm>
            <a:off x="7610475" y="561975"/>
            <a:ext cx="3819525" cy="5724525"/>
            <a:chOff x="7610475" y="561975"/>
            <a:chExt cx="3819525" cy="5724525"/>
          </a:xfrm>
        </p:grpSpPr>
        <p:pic>
          <p:nvPicPr>
            <p:cNvPr id="103" name="Google Shape;103;p13"/>
            <p:cNvPicPr preferRelativeResize="0"/>
            <p:nvPr/>
          </p:nvPicPr>
          <p:blipFill rotWithShape="1">
            <a:blip r:embed="rId5">
              <a:alphaModFix/>
            </a:blip>
            <a:srcRect b="16234" l="0" r="0" t="16234"/>
            <a:stretch/>
          </p:blipFill>
          <p:spPr>
            <a:xfrm>
              <a:off x="7620000" y="571500"/>
              <a:ext cx="3810000" cy="5715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pic>
          <p:nvPicPr>
            <p:cNvPr id="104" name="Google Shape;104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10475" y="561975"/>
              <a:ext cx="1533600" cy="4581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085010"/>
            <a:ext cx="10668000" cy="982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062013"/>
            <a:ext cx="5048250" cy="2641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062013"/>
            <a:ext cx="5048250" cy="2641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76200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WHAT PROBLEM ARE WE SOLVING?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62000" y="1357610"/>
            <a:ext cx="106680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038225" y="5323135"/>
            <a:ext cx="101536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Relational Advantage: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Our robust model maps complex relationships (Students ↔ Subjects ↔ Sessions ↔ Mentors) to enable deep temporal aggregation.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152525" y="2719238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Fragmentation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152525" y="3185963"/>
            <a:ext cx="4267200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Modern learning is highly fragmented. Students use disparate apps for timers, notes, and tasks, making it </a:t>
            </a: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impossible for educators to track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actual study habits in real-time.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772275" y="2719238"/>
            <a:ext cx="44805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StudyLab Solution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72275" y="3185963"/>
            <a:ext cx="4267200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 unified ecosystem where students track academics via </a:t>
            </a: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Android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, while mentors gain real-time, data-driven insights through a web-based </a:t>
            </a: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Analytical CRM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62000" y="657076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USER ROLES &amp; PERSONAS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762000" y="1238101"/>
            <a:ext cx="10668000" cy="9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18943" r="18949" t="0"/>
          <a:stretch/>
        </p:blipFill>
        <p:spPr>
          <a:xfrm>
            <a:off x="6381750" y="1524000"/>
            <a:ext cx="5048400" cy="4572000"/>
          </a:xfrm>
          <a:prstGeom prst="roundRect">
            <a:avLst>
              <a:gd fmla="val 4166" name="adj"/>
            </a:avLst>
          </a:prstGeom>
          <a:noFill/>
          <a:ln>
            <a:noFill/>
          </a:ln>
        </p:spPr>
      </p:pic>
      <p:grpSp>
        <p:nvGrpSpPr>
          <p:cNvPr id="128" name="Google Shape;128;p15"/>
          <p:cNvGrpSpPr/>
          <p:nvPr/>
        </p:nvGrpSpPr>
        <p:grpSpPr>
          <a:xfrm>
            <a:off x="762000" y="1714500"/>
            <a:ext cx="5048400" cy="2000100"/>
            <a:chOff x="762000" y="1714500"/>
            <a:chExt cx="5048400" cy="2000100"/>
          </a:xfrm>
        </p:grpSpPr>
        <p:sp>
          <p:nvSpPr>
            <p:cNvPr id="129" name="Google Shape;129;p15"/>
            <p:cNvSpPr/>
            <p:nvPr/>
          </p:nvSpPr>
          <p:spPr>
            <a:xfrm>
              <a:off x="762000" y="1714500"/>
              <a:ext cx="5048400" cy="2000100"/>
            </a:xfrm>
            <a:prstGeom prst="roundRect">
              <a:avLst>
                <a:gd fmla="val 9523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 txBox="1"/>
            <p:nvPr/>
          </p:nvSpPr>
          <p:spPr>
            <a:xfrm>
              <a:off x="1047750" y="204698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8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smartphone</a:t>
              </a:r>
              <a:endParaRPr sz="248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1047750" y="2476500"/>
              <a:ext cx="447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Student (Data Generator)</a:t>
              </a:r>
              <a:endParaRPr b="0" sz="21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1047750" y="2905125"/>
              <a:ext cx="447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Uses the Android app to log study sessions, track daily habits, manage academic vaults, and complete assigned tasks.</a:t>
              </a:r>
              <a:endParaRPr b="0" sz="14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33" name="Google Shape;133;p15"/>
          <p:cNvGrpSpPr/>
          <p:nvPr/>
        </p:nvGrpSpPr>
        <p:grpSpPr>
          <a:xfrm>
            <a:off x="762000" y="4000500"/>
            <a:ext cx="5048400" cy="2000100"/>
            <a:chOff x="762000" y="4000500"/>
            <a:chExt cx="5048400" cy="2000100"/>
          </a:xfrm>
        </p:grpSpPr>
        <p:sp>
          <p:nvSpPr>
            <p:cNvPr id="134" name="Google Shape;134;p15"/>
            <p:cNvSpPr/>
            <p:nvPr/>
          </p:nvSpPr>
          <p:spPr>
            <a:xfrm>
              <a:off x="762000" y="4000500"/>
              <a:ext cx="5048400" cy="2000100"/>
            </a:xfrm>
            <a:prstGeom prst="roundRect">
              <a:avLst>
                <a:gd fmla="val 9523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1047750" y="433298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8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8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1047750" y="4762500"/>
              <a:ext cx="447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Mentor (The Analyst)</a:t>
              </a:r>
              <a:endParaRPr b="0" sz="21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37" name="Google Shape;137;p15"/>
            <p:cNvSpPr txBox="1"/>
            <p:nvPr/>
          </p:nvSpPr>
          <p:spPr>
            <a:xfrm>
              <a:off x="1047750" y="5191125"/>
              <a:ext cx="4476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Uses the Next.js CRM to monitor assigned mentees, review activity feeds, and analyze cohort performance using metrics.</a:t>
              </a:r>
              <a:endParaRPr b="0" sz="14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07741"/>
            <a:ext cx="3365450" cy="3314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07741"/>
            <a:ext cx="3365450" cy="3314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07741"/>
            <a:ext cx="3365450" cy="3314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76200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HIGH-LEVEL SYSTEM ARCHITECTURE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762000" y="1357610"/>
            <a:ext cx="106680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104900" y="3531691"/>
            <a:ext cx="281363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Frontend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104900" y="3998416"/>
            <a:ext cx="2679650" cy="1266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Mobile: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Native Android (Java/Kotlin) for student study workflows.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Web: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Next.js dashboard for mentor-side deep analytics.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756100" y="3531691"/>
            <a:ext cx="281363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Backend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756100" y="3998416"/>
            <a:ext cx="2679650" cy="1266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FastAPI: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High-performance Python REST APIs.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Redis: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In-memory caching to accelerate heavy analytical queries.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407300" y="3531691"/>
            <a:ext cx="281363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Database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407300" y="3998416"/>
            <a:ext cx="2679650" cy="1266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MySQL: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Cloud-hosted relational persistence.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Integrity: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Enforced through strict relational constraints and ACID compliance.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788741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6100" y="2788741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7300" y="2788741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92399"/>
            <a:ext cx="10668000" cy="354493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6200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DATABASE ENTITY MANAGEMENT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762000" y="1357610"/>
            <a:ext cx="106680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7"/>
          <p:cNvGraphicFramePr/>
          <p:nvPr/>
        </p:nvGraphicFramePr>
        <p:xfrm>
          <a:off x="771525" y="23019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{5ECC275E-0EF4-4218-848C-655A98B655F4}</a:tableStyleId>
              </a:tblPr>
              <a:tblGrid>
                <a:gridCol w="1867500"/>
                <a:gridCol w="3467250"/>
                <a:gridCol w="5314200"/>
              </a:tblGrid>
              <a:tr h="58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Domain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Core Entities (Tables)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Functional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8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Identity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accounts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Authentication and role-based access control.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8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Mentorship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mentor_assignments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Linking mentees to specific guides/analysts.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8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Academic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subjects, vault_files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Organizing materials, subjects, and study links.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8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study_sessions, check_ins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Tracking time-series duration and timestamps.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8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Assessments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mentor_tasks, assessments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Goal tracking, status auditing, and task trail.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17"/>
          <p:cNvSpPr/>
          <p:nvPr/>
        </p:nvSpPr>
        <p:spPr>
          <a:xfrm>
            <a:off x="771525" y="2913310"/>
            <a:ext cx="186749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639020" y="2913310"/>
            <a:ext cx="346724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106269" y="2913310"/>
            <a:ext cx="531420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71525" y="3506688"/>
            <a:ext cx="186749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2639020" y="3506688"/>
            <a:ext cx="346724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106269" y="3506688"/>
            <a:ext cx="531420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71525" y="4085778"/>
            <a:ext cx="186749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639020" y="4085778"/>
            <a:ext cx="346724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106269" y="4085778"/>
            <a:ext cx="531420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71525" y="4664868"/>
            <a:ext cx="186749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639020" y="4664868"/>
            <a:ext cx="346724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106269" y="4664868"/>
            <a:ext cx="531420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71525" y="5243958"/>
            <a:ext cx="186749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639020" y="5243958"/>
            <a:ext cx="346724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6106269" y="5243958"/>
            <a:ext cx="5314205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76200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BEYOND CRUD: DATA SYNTHESIS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762000" y="1357610"/>
            <a:ext cx="106680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1190625" y="3024038"/>
            <a:ext cx="102393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ACID Compliance: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We leverage database transactions to ensure relational safety during student deletion (e.g., ON DELETE CASCADE for mentor mappings).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190625" y="3768774"/>
            <a:ext cx="102393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Performance at Scale: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Implementation of </a:t>
            </a: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Redis caching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ensures sub-millisecond responses for heavy analytical read-only data for mentors.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190625" y="4513510"/>
            <a:ext cx="102393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SQL-Side Derivation: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Heavy calculation logic (like total study duration across months) is pushed to the SQL layer, adhering to enterprise DBMS best practices.</a:t>
            </a:r>
            <a:endParaRPr/>
          </a:p>
        </p:txBody>
      </p:sp>
      <p:pic>
        <p:nvPicPr>
          <p:cNvPr descr="image.png" id="191" name="Google Shape;1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5261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9734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54208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762000" y="571500"/>
            <a:ext cx="112014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ADVANCED SQL: VIEWS &amp; PERFORMANCE</a:t>
            </a:r>
            <a:endParaRPr b="0" sz="2800">
              <a:solidFill>
                <a:srgbClr val="DEFF9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62000" y="1095375"/>
            <a:ext cx="10668000" cy="9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628650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66666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STUDYLAB · CSE2021 · GROUP 13</a:t>
            </a:r>
            <a:endParaRPr b="0" sz="1000">
              <a:solidFill>
                <a:srgbClr val="666666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pSp>
        <p:nvGrpSpPr>
          <p:cNvPr id="202" name="Google Shape;202;p19"/>
          <p:cNvGrpSpPr/>
          <p:nvPr/>
        </p:nvGrpSpPr>
        <p:grpSpPr>
          <a:xfrm>
            <a:off x="762000" y="1381125"/>
            <a:ext cx="5048400" cy="2286000"/>
            <a:chOff x="762000" y="1381125"/>
            <a:chExt cx="5048400" cy="2286000"/>
          </a:xfrm>
        </p:grpSpPr>
        <p:sp>
          <p:nvSpPr>
            <p:cNvPr id="203" name="Google Shape;203;p19"/>
            <p:cNvSpPr/>
            <p:nvPr/>
          </p:nvSpPr>
          <p:spPr>
            <a:xfrm>
              <a:off x="762000" y="1381125"/>
              <a:ext cx="5048400" cy="2286000"/>
            </a:xfrm>
            <a:prstGeom prst="roundRect">
              <a:avLst>
                <a:gd fmla="val 3333" name="adj"/>
              </a:avLst>
            </a:prstGeom>
            <a:solidFill>
              <a:srgbClr val="1A1A1A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952500" y="1524000"/>
              <a:ext cx="4667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SQL VIEW: vw_mentor_roster</a:t>
              </a:r>
              <a:endParaRPr b="1" sz="1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952500" y="1905000"/>
              <a:ext cx="4667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Abstracted a massive JOIN across 4+ tables into a single SQL VIEW, enabling API routes to issue one clean SELECT.</a:t>
              </a:r>
              <a:endParaRPr b="0" sz="11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952500" y="2667000"/>
              <a:ext cx="4667400" cy="857400"/>
            </a:xfrm>
            <a:prstGeom prst="roundRect">
              <a:avLst>
                <a:gd fmla="val 4444" name="adj"/>
              </a:avLst>
            </a:prstGeom>
            <a:solidFill>
              <a:srgbClr val="0A0A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1047750" y="2714625"/>
              <a:ext cx="4476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A0C06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CREATE OR REPLACE VIEW vw_mentor_roster AS</a:t>
              </a:r>
              <a:endParaRPr b="0" sz="800">
                <a:solidFill>
                  <a:srgbClr val="A0C06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A0C06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SELECT ma.mentor_account_id, a.name AS student_name,</a:t>
              </a:r>
              <a:endParaRPr b="0" sz="800">
                <a:solidFill>
                  <a:srgbClr val="A0C06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A0C06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COUNT(DISTINCT s.id) AS subjects_count</a:t>
              </a:r>
              <a:endParaRPr b="0" sz="800">
                <a:solidFill>
                  <a:srgbClr val="A0C06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A0C06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FROM mentor_assignments ma ... GROUP BY ma.id;</a:t>
              </a:r>
              <a:endParaRPr b="0" sz="800">
                <a:solidFill>
                  <a:srgbClr val="A0C06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762000" y="3762375"/>
            <a:ext cx="5048400" cy="1047900"/>
            <a:chOff x="762000" y="3762375"/>
            <a:chExt cx="5048400" cy="1047900"/>
          </a:xfrm>
        </p:grpSpPr>
        <p:sp>
          <p:nvSpPr>
            <p:cNvPr id="209" name="Google Shape;209;p19"/>
            <p:cNvSpPr/>
            <p:nvPr/>
          </p:nvSpPr>
          <p:spPr>
            <a:xfrm>
              <a:off x="762000" y="3762375"/>
              <a:ext cx="5048400" cy="1047900"/>
            </a:xfrm>
            <a:prstGeom prst="roundRect">
              <a:avLst>
                <a:gd fmla="val 7272" name="adj"/>
              </a:avLst>
            </a:prstGeom>
            <a:solidFill>
              <a:srgbClr val="DEFF9A">
                <a:alpha val="10000"/>
              </a:srgbClr>
            </a:solidFill>
            <a:ln cap="flat" cmpd="sng" w="477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 txBox="1"/>
            <p:nvPr/>
          </p:nvSpPr>
          <p:spPr>
            <a:xfrm>
              <a:off x="952500" y="3905250"/>
              <a:ext cx="4667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75"/>
                </a:spcAft>
                <a:buNone/>
              </a:pPr>
              <a:r>
                <a:rPr b="1" lang="en-US" sz="1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⚡ Viva Point:</a:t>
              </a:r>
              <a:r>
                <a:rPr b="0" lang="en-US" sz="12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Queries this View to render rosters instantly without re-computing 4-way JOINs on every load.</a:t>
              </a:r>
              <a:endParaRPr b="0" sz="12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11" name="Google Shape;211;p19"/>
          <p:cNvGrpSpPr/>
          <p:nvPr/>
        </p:nvGrpSpPr>
        <p:grpSpPr>
          <a:xfrm>
            <a:off x="6191250" y="1381125"/>
            <a:ext cx="5238900" cy="1905000"/>
            <a:chOff x="6191250" y="1381125"/>
            <a:chExt cx="5238900" cy="1905000"/>
          </a:xfrm>
        </p:grpSpPr>
        <p:sp>
          <p:nvSpPr>
            <p:cNvPr id="212" name="Google Shape;212;p19"/>
            <p:cNvSpPr/>
            <p:nvPr/>
          </p:nvSpPr>
          <p:spPr>
            <a:xfrm>
              <a:off x="6191250" y="1381125"/>
              <a:ext cx="5238900" cy="1905000"/>
            </a:xfrm>
            <a:prstGeom prst="roundRect">
              <a:avLst>
                <a:gd fmla="val 4000" name="adj"/>
              </a:avLst>
            </a:prstGeom>
            <a:solidFill>
              <a:srgbClr val="1A1A1A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6381750" y="1524000"/>
              <a:ext cx="4857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Query Performance: Index Impact</a:t>
              </a:r>
              <a:endParaRPr b="1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6381750" y="1857375"/>
              <a:ext cx="4857900" cy="96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6381750" y="1952625"/>
              <a:ext cx="4857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dailyentries: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user_id + date filter | </a:t>
              </a:r>
              <a:r>
                <a:rPr b="0" lang="en-US" sz="1000">
                  <a:solidFill>
                    <a:srgbClr val="FF6B6B"/>
                  </a:solidFill>
                  <a:latin typeface="Urbanist"/>
                  <a:ea typeface="Urbanist"/>
                  <a:cs typeface="Urbanist"/>
                  <a:sym typeface="Urbanist"/>
                </a:rPr>
                <a:t>Full Scan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➔ </a:t>
              </a:r>
              <a:r>
                <a:rPr b="0" lang="en-US" sz="1000">
                  <a:solidFill>
                    <a:srgbClr val="4ECDC4"/>
                  </a:solidFill>
                  <a:latin typeface="Urbanist"/>
                  <a:ea typeface="Urbanist"/>
                  <a:cs typeface="Urbanist"/>
                  <a:sym typeface="Urbanist"/>
                </a:rPr>
                <a:t>Range Seek</a:t>
              </a:r>
              <a:endParaRPr b="0" sz="10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subjects: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firebase_uid + sort | </a:t>
              </a:r>
              <a:r>
                <a:rPr b="0" lang="en-US" sz="1000">
                  <a:solidFill>
                    <a:srgbClr val="FF6B6B"/>
                  </a:solidFill>
                  <a:latin typeface="Urbanist"/>
                  <a:ea typeface="Urbanist"/>
                  <a:cs typeface="Urbanist"/>
                  <a:sym typeface="Urbanist"/>
                </a:rPr>
                <a:t>Filesort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➔ </a:t>
              </a:r>
              <a:r>
                <a:rPr b="0" lang="en-US" sz="1000">
                  <a:solidFill>
                    <a:srgbClr val="4ECDC4"/>
                  </a:solidFill>
                  <a:latin typeface="Urbanist"/>
                  <a:ea typeface="Urbanist"/>
                  <a:cs typeface="Urbanist"/>
                  <a:sym typeface="Urbanist"/>
                </a:rPr>
                <a:t>Index Sort</a:t>
              </a:r>
              <a:endParaRPr b="0" sz="10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vault_files: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MATCH() AGAINST() | </a:t>
              </a:r>
              <a:r>
                <a:rPr b="0" lang="en-US" sz="1000">
                  <a:solidFill>
                    <a:srgbClr val="FF6B6B"/>
                  </a:solidFill>
                  <a:latin typeface="Urbanist"/>
                  <a:ea typeface="Urbanist"/>
                  <a:cs typeface="Urbanist"/>
                  <a:sym typeface="Urbanist"/>
                </a:rPr>
                <a:t>LIKE scan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➔ </a:t>
              </a:r>
              <a:r>
                <a:rPr b="0" lang="en-US" sz="1000">
                  <a:solidFill>
                    <a:srgbClr val="4ECDC4"/>
                  </a:solidFill>
                  <a:latin typeface="Urbanist"/>
                  <a:ea typeface="Urbanist"/>
                  <a:cs typeface="Urbanist"/>
                  <a:sym typeface="Urbanist"/>
                </a:rPr>
                <a:t>FULLTEXT</a:t>
              </a:r>
              <a:endParaRPr b="0" sz="10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notifications: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account_id + is_read | Partial Composite</a:t>
              </a:r>
              <a:endParaRPr b="0" sz="10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16" name="Google Shape;216;p19"/>
          <p:cNvGrpSpPr/>
          <p:nvPr/>
        </p:nvGrpSpPr>
        <p:grpSpPr>
          <a:xfrm>
            <a:off x="6191250" y="3381375"/>
            <a:ext cx="5238900" cy="2667000"/>
            <a:chOff x="6191250" y="3381375"/>
            <a:chExt cx="5238900" cy="2667000"/>
          </a:xfrm>
        </p:grpSpPr>
        <p:sp>
          <p:nvSpPr>
            <p:cNvPr id="217" name="Google Shape;217;p19"/>
            <p:cNvSpPr/>
            <p:nvPr/>
          </p:nvSpPr>
          <p:spPr>
            <a:xfrm>
              <a:off x="6191250" y="3381375"/>
              <a:ext cx="5238900" cy="2667000"/>
            </a:xfrm>
            <a:prstGeom prst="roundRect">
              <a:avLst>
                <a:gd fmla="val 2857" name="adj"/>
              </a:avLst>
            </a:prstGeom>
            <a:solidFill>
              <a:srgbClr val="1A1A1A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6381750" y="3524250"/>
              <a:ext cx="4857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Composite Index Types Used</a:t>
              </a:r>
              <a:endParaRPr b="1" sz="14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6381750" y="3857625"/>
              <a:ext cx="1524000" cy="285900"/>
            </a:xfrm>
            <a:prstGeom prst="roundRect">
              <a:avLst>
                <a:gd fmla="val 13333" name="adj"/>
              </a:avLst>
            </a:prstGeom>
            <a:solidFill>
              <a:srgbClr val="DEFF9A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6381750" y="3857625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B-TREE: dailyentries</a:t>
              </a:r>
              <a:endParaRPr b="1" sz="9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6381750" y="4191000"/>
              <a:ext cx="4857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idx_subj_uid_archived: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subjects INDEX(firebase_uid, is_archived, created_at DESC) — Most-selective column first.</a:t>
              </a:r>
              <a:endParaRPr b="0" sz="10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ftx_vf_text: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vault_files FULLTEXT(note_name, description, file_name) — Ranked relevance vs. LIKE '%x%'.</a:t>
              </a:r>
              <a:endParaRPr b="0" sz="10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DEFF9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idx_de_user_date:</a:t>
              </a:r>
              <a:r>
                <a:rPr b="0" lang="en-US" sz="1000">
                  <a:solidFill>
                    <a:srgbClr val="E0E0E0"/>
                  </a:solidFill>
                  <a:latin typeface="Urbanist"/>
                  <a:ea typeface="Urbanist"/>
                  <a:cs typeface="Urbanist"/>
                  <a:sym typeface="Urbanist"/>
                </a:rPr>
                <a:t> dailyentries INDEX(user_id, entry_date) — Powers the 7-day streak and at-risk queries.</a:t>
              </a:r>
              <a:endParaRPr b="0" sz="100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48135"/>
            <a:ext cx="10668000" cy="463361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762000" y="776585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ANALYTICS: SUBQUERIES &amp; FILTERING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762000" y="1357610"/>
            <a:ext cx="106680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762000" y="4246959"/>
            <a:ext cx="50482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Correlated Subqueries: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Used to identify "Top Students" who outperform the </a:t>
            </a: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average study time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of their specific peer group under the same mentor.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381750" y="4246959"/>
            <a:ext cx="50482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Group By &amp; Having: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Instantly flagging "Overloaded Mentors" who are assigned &gt;5 active mentees, ensuring balanced workload distribution.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762000" y="1657201"/>
            <a:ext cx="48006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AUTOMATION: PROCEDURES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62000" y="3324076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Encapsulation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62000" y="3790801"/>
            <a:ext cx="457200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Stored Procedures: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ArchiveInactiveMentees encapsulates mass update logic inside the database. A single CALL clears users inactive for 30+ days.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62000" y="4665017"/>
            <a:ext cx="457200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Audit Triggers:</a:t>
            </a: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SQL Triggers on the assessments table record state changes, ensuring an unbreakable trail that the app layer cannot bypass.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361283"/>
            <a:ext cx="5048250" cy="2040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61283"/>
            <a:ext cx="5048250" cy="204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495300" y="1273522"/>
            <a:ext cx="1120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809750" y="2149822"/>
            <a:ext cx="85725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StudyLab transforms raw student actions into structured </a:t>
            </a: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Actionable Intelligence</a:t>
            </a:r>
            <a:r>
              <a:rPr b="0" i="0" lang="en-US" sz="18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 It is a robust relational data pipeline designed for institutional scaling.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62000" y="5877669"/>
            <a:ext cx="10668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Urbanist"/>
                <a:ea typeface="Urbanist"/>
                <a:cs typeface="Urbanist"/>
                <a:sym typeface="Urbanist"/>
              </a:rPr>
              <a:t>THANK YOU | QUESTIONS?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104900" y="3970883"/>
            <a:ext cx="45805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Predictive AI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104900" y="4437608"/>
            <a:ext cx="43624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Integrating ML to flag at-risk students based on historical volatility in session data.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724650" y="3970883"/>
            <a:ext cx="45805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Horizontal Scaling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724650" y="4437608"/>
            <a:ext cx="43624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Sharding the database across campus nodes to support 10,000+ concurrent users.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